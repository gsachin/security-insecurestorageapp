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674"/>
  </p:normalViewPr>
  <p:slideViewPr>
    <p:cSldViewPr snapToGrid="0">
      <p:cViewPr varScale="1">
        <p:scale>
          <a:sx n="102" d="100"/>
          <a:sy n="102" d="100"/>
        </p:scale>
        <p:origin x="9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C57E-784C-E8F8-78C4-2459E6BE4D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DF7DB9-545D-A0DF-E246-2336C33C68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F9586-513D-458C-3332-DF86E073E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8E52F-9F5A-866C-19C0-8B614B774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2529C-5556-61AC-AB9B-8609FD18A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0799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AB4FF-71E9-3970-68B5-19808099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90BC7-22FA-5705-8C4F-1ECEE5FE44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1E0FA3-6F35-A8B0-FE6C-0A67797B4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F24AE-E53B-92E4-3AEC-821BA4CA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CAABC-9F51-A7FD-FD6E-1ECE353E3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265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D35EA-86B5-EB99-1CFF-43F3D549E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2E15E8-3BDB-D574-35DA-FC2031D6E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E42140-0C62-02B8-C633-453A9A381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1CF594-4719-15AC-5F76-592B87302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CED70F-12F5-5F3F-14CC-4613B061C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229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D60C1-AC75-2694-55F1-B86336F44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953C74-9E4F-B97E-80B7-D5234B56F1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332A9-4164-6E9D-E79A-15A823D74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3B8309-16FA-0B66-C99A-DAB73EF64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E42EB8-D2E6-77B6-596C-54B1D8239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F53015-143A-B960-5024-862BC3ECC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4546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0324B-FCE7-F284-11A1-87867F5C9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289786-834C-B9D4-D65D-FC46B908E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8C95C6-F496-AE3C-7962-4C798053C2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74C21E-32F7-0E76-7FED-9A7A9618CE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1E2C8D-1DD6-3ED5-4125-6B8A1BE128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D6B410-A1CB-9F65-7E90-3BC92724A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630F96-B461-1A34-82E9-8573E1A94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D269E5-23E0-C034-C0EF-9DBE03CE6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663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B1920-39A8-AD72-5A17-69BF234B7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50AFCA-7BA9-B6B5-270A-211B28FFA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3EB067-EBE2-EC53-79AF-ECECA0532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89815C-38FB-E5AE-2564-DD5F0F5B3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0817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1BCC57-5968-838F-0426-836BA02C1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82AFA5-0A71-480F-3AC0-D0BA9688D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7C040-6771-7CDA-40CA-A6A2FD2A2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074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BC8B9-D09E-52C0-4E10-403E32253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2625D-2071-5B8A-A3BE-9639AA7F1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4C0140-E62B-2956-BB56-C444AAAC2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3289AD-7094-AAE5-F022-39044B2F4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AD222-E06F-C1C9-55BF-347931A64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C0473-A8A9-F0EF-AAD8-742CCDB98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994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D2987-0F82-52F3-C7C0-B233DE65A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9DE2C11-5F97-F4FB-9547-47F6E0762B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4FBC59-20D1-ED9B-E61D-BB78FB8F58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4F3C32-A08D-D691-B175-873E9E210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CC340A-168B-0A12-A8C7-02F666DAB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4A949E-9EB2-D961-82B4-F9A699FCF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264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C262D-603A-B94F-782D-1204AB21F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B6DE79-ECB2-B5AD-35EF-A86765B2E7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BD694-3E04-2A76-E441-366458C2D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4BD093-D808-AF98-34A4-76B3A8CE7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73898-0398-7A84-E5AD-8938C45CD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785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19626F-1157-98A4-FAEA-D65FDDF3E2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10CD9A-169B-2A23-A285-42ABBF1C4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5425C-0688-E0A6-CC99-999F7B77B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EEC09E-34E1-2810-2A24-47059E5CC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E8068-FA27-EDD6-6A5D-693A949B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759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115C27-FEEB-9812-301F-B117756FE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D24F5-B34D-3AA2-1AEA-1684974541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31578-28C3-B133-86EA-71D56A3C4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FCC587-631E-0949-8F83-35BD65CF1994}" type="datetimeFigureOut">
              <a:rPr lang="en-US" smtClean="0"/>
              <a:t>1/21/25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3503F-6943-3113-9E0C-98095D2778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24E888-2E82-3A23-820F-40FED043BB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FDDA6B-DAD5-8042-A675-E1AA4E2EFF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22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AD2B0-58B7-75B3-4870-400079422D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Mobile Security Test cases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D949D7-FA03-0D70-81C2-8684AAAC97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303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7235E-FA4C-786F-4AC0-D4FC3E1C3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Validate Secure Login Mechanism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DB25B-23D6-820F-42C6-1C946FACF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493"/>
            <a:ext cx="10515600" cy="5052382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b="1" dirty="0"/>
              <a:t>Test Case ID:</a:t>
            </a:r>
            <a:r>
              <a:rPr lang="en-US" dirty="0"/>
              <a:t> TC-001</a:t>
            </a:r>
          </a:p>
          <a:p>
            <a:pPr marL="0" indent="0">
              <a:buNone/>
            </a:pPr>
            <a:r>
              <a:rPr lang="en-US" b="1" dirty="0"/>
              <a:t>Objective:</a:t>
            </a:r>
            <a:r>
              <a:rPr lang="en-US" dirty="0"/>
              <a:t> Ensure the login mechanism is secure and adheres to best practices.</a:t>
            </a:r>
          </a:p>
          <a:p>
            <a:pPr marL="0" indent="0">
              <a:buNone/>
            </a:pPr>
            <a:r>
              <a:rPr lang="en-US" b="1" dirty="0"/>
              <a:t>Pre-conditions: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APK/AAB/IPA file uploaded to </a:t>
            </a:r>
            <a:r>
              <a:rPr lang="en-US" dirty="0" err="1"/>
              <a:t>Corellium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Virtual device set up in </a:t>
            </a:r>
            <a:r>
              <a:rPr lang="en-US" dirty="0" err="1"/>
              <a:t>Corellium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Steps:</a:t>
            </a:r>
          </a:p>
          <a:p>
            <a:pPr>
              <a:buFont typeface="+mj-lt"/>
              <a:buAutoNum type="arabicPeriod"/>
            </a:pPr>
            <a:r>
              <a:rPr lang="en-US" dirty="0"/>
              <a:t>Install the app on the virtual device.</a:t>
            </a:r>
          </a:p>
          <a:p>
            <a:pPr>
              <a:buFont typeface="+mj-lt"/>
              <a:buAutoNum type="arabicPeriod"/>
            </a:pPr>
            <a:r>
              <a:rPr lang="en-US" dirty="0"/>
              <a:t>Navigate to the login screen.</a:t>
            </a:r>
          </a:p>
          <a:p>
            <a:pPr>
              <a:buFont typeface="+mj-lt"/>
              <a:buAutoNum type="arabicPeriod"/>
            </a:pPr>
            <a:r>
              <a:rPr lang="en-US" dirty="0"/>
              <a:t>Attempt login with: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Weak passwords (e.g., "123456").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Invalid email formats (e.g., "</a:t>
            </a:r>
            <a:r>
              <a:rPr lang="en-US" dirty="0" err="1"/>
              <a:t>user@com</a:t>
            </a:r>
            <a:r>
              <a:rPr lang="en-US" dirty="0"/>
              <a:t>").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Incorrect credentials.</a:t>
            </a:r>
          </a:p>
          <a:p>
            <a:pPr>
              <a:buFont typeface="+mj-lt"/>
              <a:buAutoNum type="arabicPeriod"/>
            </a:pPr>
            <a:r>
              <a:rPr lang="en-US" dirty="0"/>
              <a:t>Observe app behavior.</a:t>
            </a:r>
          </a:p>
          <a:p>
            <a:pPr marL="0" indent="0">
              <a:buNone/>
            </a:pPr>
            <a:r>
              <a:rPr lang="en-US" b="1" dirty="0"/>
              <a:t>Expected Results: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Strong password rules are enforced.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Passwords are masked.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Error messages do not expose sensitive details.</a:t>
            </a:r>
          </a:p>
          <a:p>
            <a:pPr marL="0" indent="0">
              <a:buNone/>
            </a:pPr>
            <a:r>
              <a:rPr lang="en-US" b="1" dirty="0"/>
              <a:t>Test Data: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Weak passwords: "123456", "password".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Invalid email: "</a:t>
            </a:r>
            <a:r>
              <a:rPr lang="en-US" dirty="0" err="1"/>
              <a:t>test@com</a:t>
            </a:r>
            <a:r>
              <a:rPr lang="en-US" dirty="0"/>
              <a:t>".</a:t>
            </a:r>
          </a:p>
          <a:p>
            <a:pPr marL="0" indent="0">
              <a:buNone/>
            </a:pPr>
            <a:r>
              <a:rPr lang="en-US" b="1" dirty="0"/>
              <a:t>Test Environment:</a:t>
            </a:r>
            <a:r>
              <a:rPr lang="en-US" dirty="0"/>
              <a:t> </a:t>
            </a:r>
            <a:r>
              <a:rPr lang="en-US" dirty="0" err="1"/>
              <a:t>Corellium</a:t>
            </a:r>
            <a:r>
              <a:rPr lang="en-US" dirty="0"/>
              <a:t> virtual device.</a:t>
            </a:r>
          </a:p>
        </p:txBody>
      </p:sp>
    </p:spTree>
    <p:extLst>
      <p:ext uri="{BB962C8B-B14F-4D97-AF65-F5344CB8AC3E}">
        <p14:creationId xmlns:p14="http://schemas.microsoft.com/office/powerpoint/2010/main" val="3900552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A2C492F-17D0-6628-41E8-257B9F836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4E440-6EC7-3469-F0E3-C09FC391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Verify No Sensitive Data in Logs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E79E3-6203-83F7-62F3-A1649F18B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lnSpc>
                <a:spcPct val="80000"/>
              </a:lnSpc>
              <a:buNone/>
            </a:pPr>
            <a:r>
              <a:rPr lang="en-US" sz="1500" b="1" dirty="0"/>
              <a:t>Test Case ID: </a:t>
            </a:r>
            <a:r>
              <a:rPr lang="en-US" sz="1500" dirty="0"/>
              <a:t>TC-002</a:t>
            </a:r>
          </a:p>
          <a:p>
            <a:pPr marL="0" indent="0">
              <a:buNone/>
            </a:pPr>
            <a:r>
              <a:rPr lang="en-US" sz="1500" b="1" dirty="0"/>
              <a:t>Objective: </a:t>
            </a:r>
            <a:r>
              <a:rPr lang="en-US" sz="1500" dirty="0"/>
              <a:t>Ensure sensitive information is not logged during app operations.</a:t>
            </a:r>
          </a:p>
          <a:p>
            <a:pPr marL="0" indent="0">
              <a:buNone/>
            </a:pPr>
            <a:r>
              <a:rPr lang="en-US" sz="1500" b="1" dirty="0"/>
              <a:t>Pre-conditions</a:t>
            </a:r>
            <a:r>
              <a:rPr lang="en-US" sz="1500" dirty="0"/>
              <a:t>: </a:t>
            </a:r>
            <a:r>
              <a:rPr lang="en-US" sz="1500" dirty="0" err="1"/>
              <a:t>Corellium</a:t>
            </a:r>
            <a:r>
              <a:rPr lang="en-US" sz="1500" dirty="0"/>
              <a:t> console logs enabled.</a:t>
            </a:r>
          </a:p>
          <a:p>
            <a:pPr marL="0" indent="0">
              <a:buNone/>
            </a:pPr>
            <a:r>
              <a:rPr lang="en-US" sz="1500" b="1" dirty="0"/>
              <a:t>Steps: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500" dirty="0"/>
              <a:t> Launch the app on the </a:t>
            </a:r>
            <a:r>
              <a:rPr lang="en-US" sz="1500" dirty="0" err="1"/>
              <a:t>Corellium</a:t>
            </a:r>
            <a:r>
              <a:rPr lang="en-US" sz="1500" dirty="0"/>
              <a:t> virtual device.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500" dirty="0"/>
              <a:t>Perform sensitive actions (e.g., login, registration).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500" dirty="0"/>
              <a:t>Monitor logs in real-time for sensitive data like passwords or API keys.</a:t>
            </a:r>
          </a:p>
          <a:p>
            <a:pPr marL="0" indent="0">
              <a:buNone/>
            </a:pPr>
            <a:r>
              <a:rPr lang="en-US" sz="1500" b="1" dirty="0"/>
              <a:t>Expected Results: </a:t>
            </a:r>
            <a:r>
              <a:rPr lang="en-US" sz="1500" dirty="0"/>
              <a:t>No sensitive data is logged.</a:t>
            </a:r>
          </a:p>
          <a:p>
            <a:pPr marL="0" indent="0">
              <a:buNone/>
            </a:pPr>
            <a:r>
              <a:rPr lang="en-US" sz="1500" b="1" dirty="0"/>
              <a:t>Test Data</a:t>
            </a:r>
            <a:r>
              <a:rPr lang="en-US" sz="1500" dirty="0"/>
              <a:t>: User credentials for login.</a:t>
            </a:r>
          </a:p>
          <a:p>
            <a:pPr marL="0" indent="0">
              <a:buNone/>
            </a:pPr>
            <a:r>
              <a:rPr lang="en-US" sz="1500" b="1" dirty="0"/>
              <a:t>Test Environment</a:t>
            </a:r>
            <a:r>
              <a:rPr lang="en-US" sz="1500" dirty="0"/>
              <a:t>: </a:t>
            </a:r>
            <a:r>
              <a:rPr lang="en-US" sz="1500" dirty="0" err="1"/>
              <a:t>Corellium</a:t>
            </a:r>
            <a:r>
              <a:rPr lang="en-US" sz="1500" dirty="0"/>
              <a:t> with console logs active.</a:t>
            </a:r>
          </a:p>
        </p:txBody>
      </p:sp>
    </p:spTree>
    <p:extLst>
      <p:ext uri="{BB962C8B-B14F-4D97-AF65-F5344CB8AC3E}">
        <p14:creationId xmlns:p14="http://schemas.microsoft.com/office/powerpoint/2010/main" val="1053310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928FA21F-F7FF-3911-2C93-C49B83994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01F22-E294-F3E6-B6D3-82EDF468A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Validate Session Timeout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834B4-8A01-5290-36C0-10B66B1708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Test Case ID:</a:t>
            </a:r>
            <a:r>
              <a:rPr lang="en-US" sz="1500" dirty="0"/>
              <a:t> TC-003</a:t>
            </a:r>
          </a:p>
          <a:p>
            <a:pPr marL="0" indent="0">
              <a:buNone/>
            </a:pPr>
            <a:r>
              <a:rPr lang="en-US" sz="1500" b="1" dirty="0"/>
              <a:t>Objective:</a:t>
            </a:r>
            <a:r>
              <a:rPr lang="en-US" sz="1500" dirty="0"/>
              <a:t> Ensure sessions expire after a set period of inactivity.</a:t>
            </a:r>
          </a:p>
          <a:p>
            <a:pPr marL="0" indent="0">
              <a:buNone/>
            </a:pPr>
            <a:r>
              <a:rPr lang="en-US" sz="1500" b="1" dirty="0"/>
              <a:t>Pre-conditions: </a:t>
            </a:r>
            <a:r>
              <a:rPr lang="en-US" sz="1500" dirty="0"/>
              <a:t>User logged in to the app.</a:t>
            </a:r>
          </a:p>
          <a:p>
            <a:pPr marL="0" indent="0">
              <a:buNone/>
            </a:pPr>
            <a:r>
              <a:rPr lang="en-US" sz="1500" b="1" dirty="0"/>
              <a:t>Steps: </a:t>
            </a:r>
            <a:r>
              <a:rPr lang="en-US" sz="1500" dirty="0"/>
              <a:t>Log in to the app.</a:t>
            </a:r>
          </a:p>
          <a:p>
            <a:pPr lvl="2">
              <a:buFont typeface="+mj-lt"/>
              <a:buAutoNum type="arabicPeriod"/>
            </a:pPr>
            <a:r>
              <a:rPr lang="en-US" sz="1500" dirty="0"/>
              <a:t>Stay idle for the session timeout period (e.g., 15 minutes).</a:t>
            </a:r>
          </a:p>
          <a:p>
            <a:pPr lvl="2">
              <a:buFont typeface="+mj-lt"/>
              <a:buAutoNum type="arabicPeriod"/>
            </a:pPr>
            <a:r>
              <a:rPr lang="en-US" sz="1500" dirty="0"/>
              <a:t>Attempt to interact with the app post-timeout.</a:t>
            </a:r>
          </a:p>
          <a:p>
            <a:pPr marL="0" indent="0">
              <a:buNone/>
            </a:pPr>
            <a:r>
              <a:rPr lang="en-US" sz="1500" b="1" dirty="0"/>
              <a:t>Expected Results: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500" dirty="0"/>
              <a:t>User is logged out.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500" dirty="0"/>
              <a:t>Reauthentication is required to access sensitive data.</a:t>
            </a:r>
          </a:p>
          <a:p>
            <a:pPr marL="0" indent="0">
              <a:buNone/>
            </a:pPr>
            <a:r>
              <a:rPr lang="en-US" sz="1500" b="1" dirty="0"/>
              <a:t>Test Data:</a:t>
            </a:r>
            <a:r>
              <a:rPr lang="en-US" sz="1500" dirty="0"/>
              <a:t> Active user session.</a:t>
            </a:r>
          </a:p>
          <a:p>
            <a:pPr marL="0" indent="0">
              <a:buNone/>
            </a:pPr>
            <a:r>
              <a:rPr lang="en-US" sz="1500" b="1" dirty="0"/>
              <a:t>Test Environment:</a:t>
            </a:r>
            <a:r>
              <a:rPr lang="en-US" sz="1500" dirty="0"/>
              <a:t> Corallium virtual device.</a:t>
            </a:r>
          </a:p>
        </p:txBody>
      </p:sp>
    </p:spTree>
    <p:extLst>
      <p:ext uri="{BB962C8B-B14F-4D97-AF65-F5344CB8AC3E}">
        <p14:creationId xmlns:p14="http://schemas.microsoft.com/office/powerpoint/2010/main" val="21757989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2EE35-FA44-D723-2A36-AF62E1495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Check for Hardcoded Sensitive Data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1490B-0037-3258-EFA7-B2711861C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Test Case ID:</a:t>
            </a:r>
            <a:r>
              <a:rPr lang="en-US" sz="1500" dirty="0"/>
              <a:t> TC-004</a:t>
            </a:r>
          </a:p>
          <a:p>
            <a:pPr marL="0" indent="0">
              <a:buNone/>
            </a:pPr>
            <a:r>
              <a:rPr lang="en-US" sz="1500" b="1" dirty="0"/>
              <a:t>Objective:</a:t>
            </a:r>
            <a:r>
              <a:rPr lang="en-US" sz="1500" dirty="0"/>
              <a:t> Ensure sensitive data is not hardcoded in app files.</a:t>
            </a:r>
          </a:p>
          <a:p>
            <a:pPr marL="0" indent="0">
              <a:buNone/>
            </a:pPr>
            <a:r>
              <a:rPr lang="en-US" sz="1500" b="1" dirty="0" err="1"/>
              <a:t>Pre-conditions:</a:t>
            </a:r>
            <a:r>
              <a:rPr lang="en-US" sz="1500" dirty="0" err="1"/>
              <a:t>Corellium</a:t>
            </a:r>
            <a:r>
              <a:rPr lang="en-US" sz="1500" dirty="0"/>
              <a:t> file system access enabled.</a:t>
            </a:r>
          </a:p>
          <a:p>
            <a:pPr marL="0" indent="0">
              <a:buNone/>
            </a:pPr>
            <a:r>
              <a:rPr lang="en-US" sz="1500" b="1" dirty="0"/>
              <a:t>Steps:</a:t>
            </a:r>
          </a:p>
          <a:p>
            <a:pPr>
              <a:buFont typeface="+mj-lt"/>
              <a:buAutoNum type="arabicPeriod"/>
            </a:pPr>
            <a:r>
              <a:rPr lang="en-US" sz="1500" dirty="0"/>
              <a:t>Explore app directories using </a:t>
            </a:r>
            <a:r>
              <a:rPr lang="en-US" sz="1500" dirty="0" err="1"/>
              <a:t>Corellium’s</a:t>
            </a:r>
            <a:r>
              <a:rPr lang="en-US" sz="1500" dirty="0"/>
              <a:t> file explorer.</a:t>
            </a:r>
          </a:p>
          <a:p>
            <a:pPr>
              <a:buFont typeface="+mj-lt"/>
              <a:buAutoNum type="arabicPeriod"/>
            </a:pPr>
            <a:r>
              <a:rPr lang="en-US" sz="1500" dirty="0"/>
              <a:t>Search for hardcoded sensitive data in: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500" dirty="0"/>
              <a:t>Configuration files.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500" dirty="0"/>
              <a:t>Resource files (e.g., res/values/</a:t>
            </a:r>
            <a:r>
              <a:rPr lang="en-US" sz="1500" dirty="0" err="1"/>
              <a:t>strings.xml</a:t>
            </a:r>
            <a:r>
              <a:rPr lang="en-US" sz="1500" dirty="0"/>
              <a:t> on Android).</a:t>
            </a:r>
          </a:p>
          <a:p>
            <a:pPr>
              <a:buFont typeface="+mj-lt"/>
              <a:buAutoNum type="arabicPeriod"/>
            </a:pPr>
            <a:r>
              <a:rPr lang="en-US" sz="1500" dirty="0"/>
              <a:t>Trigger error conditions to check for sensitive data in crash reports.</a:t>
            </a:r>
          </a:p>
          <a:p>
            <a:pPr marL="0" indent="0">
              <a:buNone/>
            </a:pPr>
            <a:r>
              <a:rPr lang="en-US" sz="1500" b="1" dirty="0"/>
              <a:t>Expected Results:</a:t>
            </a:r>
            <a:r>
              <a:rPr lang="en-US" sz="1500" dirty="0"/>
              <a:t> No sensitive data is hardcoded or exposed.</a:t>
            </a:r>
          </a:p>
          <a:p>
            <a:pPr marL="0" indent="0">
              <a:buNone/>
            </a:pPr>
            <a:r>
              <a:rPr lang="en-US" sz="1500" b="1" dirty="0"/>
              <a:t>Test Data:</a:t>
            </a:r>
            <a:r>
              <a:rPr lang="en-US" sz="1500" dirty="0"/>
              <a:t> Not applicable.</a:t>
            </a:r>
          </a:p>
          <a:p>
            <a:pPr marL="0" indent="0">
              <a:buNone/>
            </a:pPr>
            <a:r>
              <a:rPr lang="en-US" sz="1500" b="1" dirty="0"/>
              <a:t>Test Environment:</a:t>
            </a:r>
            <a:r>
              <a:rPr lang="en-US" sz="1500" dirty="0"/>
              <a:t> </a:t>
            </a:r>
            <a:r>
              <a:rPr lang="en-US" sz="1500" dirty="0" err="1"/>
              <a:t>Corellium</a:t>
            </a:r>
            <a:r>
              <a:rPr lang="en-US" sz="1500" dirty="0"/>
              <a:t> with file system access.</a:t>
            </a:r>
          </a:p>
        </p:txBody>
      </p:sp>
    </p:spTree>
    <p:extLst>
      <p:ext uri="{BB962C8B-B14F-4D97-AF65-F5344CB8AC3E}">
        <p14:creationId xmlns:p14="http://schemas.microsoft.com/office/powerpoint/2010/main" val="17374609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01F93-ED8F-AEFE-CC0B-0541F28A5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Validate Secure Data Storage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0BDEC4-D334-CADA-9B75-6323CD296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Test Case ID:</a:t>
            </a:r>
            <a:r>
              <a:rPr lang="en-US" sz="1500" dirty="0"/>
              <a:t> TC-005</a:t>
            </a:r>
          </a:p>
          <a:p>
            <a:pPr marL="0" indent="0">
              <a:buNone/>
            </a:pPr>
            <a:r>
              <a:rPr lang="en-US" sz="1500" b="1" dirty="0"/>
              <a:t>Objective:</a:t>
            </a:r>
            <a:r>
              <a:rPr lang="en-US" sz="1500" dirty="0"/>
              <a:t> Ensure sensitive data is stored securely.</a:t>
            </a:r>
          </a:p>
          <a:p>
            <a:pPr marL="0" indent="0">
              <a:buNone/>
            </a:pPr>
            <a:r>
              <a:rPr lang="en-US" sz="1500" b="1" dirty="0" err="1"/>
              <a:t>Pre-conditions:</a:t>
            </a:r>
            <a:r>
              <a:rPr lang="en-US" sz="1500" dirty="0" err="1"/>
              <a:t>App</a:t>
            </a:r>
            <a:r>
              <a:rPr lang="en-US" sz="1500" dirty="0"/>
              <a:t> installed and </a:t>
            </a:r>
            <a:r>
              <a:rPr lang="en-US" sz="1500" dirty="0" err="1"/>
              <a:t>Corellium</a:t>
            </a:r>
            <a:r>
              <a:rPr lang="en-US" sz="1500" dirty="0"/>
              <a:t> file explorer available.</a:t>
            </a:r>
          </a:p>
          <a:p>
            <a:pPr marL="0" indent="0">
              <a:buNone/>
            </a:pPr>
            <a:r>
              <a:rPr lang="en-US" sz="1500" b="1" dirty="0" err="1"/>
              <a:t>Steps:</a:t>
            </a:r>
            <a:r>
              <a:rPr lang="en-US" sz="1500" dirty="0" err="1"/>
              <a:t>Perform</a:t>
            </a:r>
            <a:r>
              <a:rPr lang="en-US" sz="1500" dirty="0"/>
              <a:t> actions that generate sensitive data (e.g., login, payment).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/>
              <a:t>Inspect storage locations (e.g., /data/data/&lt;</a:t>
            </a:r>
            <a:r>
              <a:rPr lang="en-US" sz="1500" dirty="0" err="1"/>
              <a:t>app_package_name</a:t>
            </a:r>
            <a:r>
              <a:rPr lang="en-US" sz="1500" dirty="0"/>
              <a:t>&gt;).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/>
              <a:t>Check for encrypted storage of sensitive data.</a:t>
            </a:r>
          </a:p>
          <a:p>
            <a:pPr marL="0" indent="0">
              <a:buNone/>
            </a:pPr>
            <a:r>
              <a:rPr lang="en-US" sz="1500" b="1" dirty="0"/>
              <a:t>Expected Results: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/>
              <a:t>Sensitive data is encrypted or securely stored.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/>
              <a:t>No plaintext storage of sensitive data.</a:t>
            </a:r>
          </a:p>
          <a:p>
            <a:pPr marL="0" indent="0">
              <a:buNone/>
            </a:pPr>
            <a:r>
              <a:rPr lang="en-US" sz="1500" b="1" dirty="0"/>
              <a:t>Test Data:</a:t>
            </a:r>
            <a:r>
              <a:rPr lang="en-US" sz="1500" dirty="0"/>
              <a:t> User credentials, payment information.</a:t>
            </a:r>
          </a:p>
          <a:p>
            <a:pPr marL="0" indent="0">
              <a:buNone/>
            </a:pPr>
            <a:r>
              <a:rPr lang="en-US" sz="1500" b="1" dirty="0"/>
              <a:t>Test Environment:</a:t>
            </a:r>
            <a:r>
              <a:rPr lang="en-US" sz="1500" dirty="0"/>
              <a:t> </a:t>
            </a:r>
            <a:r>
              <a:rPr lang="en-US" sz="1500" dirty="0" err="1"/>
              <a:t>Corellium</a:t>
            </a:r>
            <a:r>
              <a:rPr lang="en-US" sz="1500" dirty="0"/>
              <a:t> virtual device.</a:t>
            </a:r>
          </a:p>
        </p:txBody>
      </p:sp>
    </p:spTree>
    <p:extLst>
      <p:ext uri="{BB962C8B-B14F-4D97-AF65-F5344CB8AC3E}">
        <p14:creationId xmlns:p14="http://schemas.microsoft.com/office/powerpoint/2010/main" val="271266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3CD2E-5201-7568-FC91-60522DD5C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Test Input Validation and Error Handling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EE5C3-6238-511E-19A8-091E5D9D5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Test Case ID:</a:t>
            </a:r>
            <a:r>
              <a:rPr lang="en-US" sz="1500" dirty="0"/>
              <a:t> TC-006</a:t>
            </a:r>
          </a:p>
          <a:p>
            <a:pPr marL="0" indent="0">
              <a:buNone/>
            </a:pPr>
            <a:r>
              <a:rPr lang="en-US" sz="1500" b="1" dirty="0"/>
              <a:t>Objective:</a:t>
            </a:r>
            <a:r>
              <a:rPr lang="en-US" sz="1500" dirty="0"/>
              <a:t> Ensure the app validates user input and handles errors gracefully.</a:t>
            </a:r>
          </a:p>
          <a:p>
            <a:pPr marL="0" indent="0">
              <a:buNone/>
            </a:pPr>
            <a:r>
              <a:rPr lang="en-US" sz="1500" b="1" dirty="0"/>
              <a:t>Pre-conditions:</a:t>
            </a:r>
            <a:r>
              <a:rPr lang="en-US" sz="1500" dirty="0"/>
              <a:t> App installed and functional.</a:t>
            </a:r>
          </a:p>
          <a:p>
            <a:pPr marL="0" indent="0">
              <a:buNone/>
            </a:pPr>
            <a:r>
              <a:rPr lang="en-US" sz="1500" b="1" dirty="0"/>
              <a:t>Steps:</a:t>
            </a:r>
          </a:p>
          <a:p>
            <a:pPr>
              <a:buFont typeface="+mj-lt"/>
              <a:buAutoNum type="arabicPeriod"/>
            </a:pPr>
            <a:r>
              <a:rPr lang="en-US" sz="1500" dirty="0"/>
              <a:t>Enter invalid data into input fields: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500" dirty="0"/>
              <a:t>Special characters (e.g., &lt;&gt;!@#$%^&amp;*).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500" dirty="0"/>
              <a:t>Long strings (e.g., 1,000 characters).</a:t>
            </a:r>
          </a:p>
          <a:p>
            <a:pPr>
              <a:buFont typeface="+mj-lt"/>
              <a:buAutoNum type="arabicPeriod"/>
            </a:pPr>
            <a:r>
              <a:rPr lang="en-US" sz="1500" dirty="0"/>
              <a:t>Observe app behavior.</a:t>
            </a:r>
          </a:p>
          <a:p>
            <a:pPr marL="0" indent="0">
              <a:buNone/>
            </a:pPr>
            <a:r>
              <a:rPr lang="en-US" sz="1500" b="1" dirty="0"/>
              <a:t>Expected Results: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/>
              <a:t>Inputs are validated.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/>
              <a:t>App doesn’t crash or expose sensitive error messages.</a:t>
            </a:r>
          </a:p>
          <a:p>
            <a:pPr marL="0" indent="0">
              <a:buNone/>
            </a:pPr>
            <a:r>
              <a:rPr lang="en-US" sz="1500" b="1" dirty="0"/>
              <a:t>Test Data:</a:t>
            </a:r>
            <a:r>
              <a:rPr lang="en-US" sz="1500" dirty="0"/>
              <a:t> Invalid inputs, long strings.</a:t>
            </a:r>
          </a:p>
          <a:p>
            <a:pPr marL="0" indent="0">
              <a:buNone/>
            </a:pPr>
            <a:r>
              <a:rPr lang="en-US" sz="1500" b="1" dirty="0"/>
              <a:t>Test Environment:</a:t>
            </a:r>
            <a:r>
              <a:rPr lang="en-US" sz="1500" dirty="0"/>
              <a:t> </a:t>
            </a:r>
            <a:r>
              <a:rPr lang="en-US" sz="1500" dirty="0" err="1"/>
              <a:t>Corellium</a:t>
            </a:r>
            <a:r>
              <a:rPr lang="en-US" sz="1500" dirty="0"/>
              <a:t> virtual device.</a:t>
            </a:r>
          </a:p>
        </p:txBody>
      </p:sp>
    </p:spTree>
    <p:extLst>
      <p:ext uri="{BB962C8B-B14F-4D97-AF65-F5344CB8AC3E}">
        <p14:creationId xmlns:p14="http://schemas.microsoft.com/office/powerpoint/2010/main" val="4234553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5F70D-CD10-DEE9-BE21-894FC780E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u="none" strike="noStrike" dirty="0">
                <a:solidFill>
                  <a:srgbClr val="000000"/>
                </a:solidFill>
                <a:effectLst/>
                <a:latin typeface="-webkit-standard"/>
              </a:rPr>
              <a:t>Validate Secure App Updates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2EA01-C5E7-B1AE-7E99-152049C0E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Test Case ID:</a:t>
            </a:r>
            <a:r>
              <a:rPr lang="en-US" sz="1500" dirty="0"/>
              <a:t> TC-007</a:t>
            </a:r>
          </a:p>
          <a:p>
            <a:pPr marL="0" indent="0">
              <a:buNone/>
            </a:pPr>
            <a:r>
              <a:rPr lang="en-US" sz="1500" b="1" dirty="0"/>
              <a:t>Objective:</a:t>
            </a:r>
            <a:r>
              <a:rPr lang="en-US" sz="1500" dirty="0"/>
              <a:t> Ensure app updates are secure.</a:t>
            </a:r>
          </a:p>
          <a:p>
            <a:pPr marL="0" indent="0">
              <a:buNone/>
            </a:pPr>
            <a:r>
              <a:rPr lang="en-US" sz="1500" b="1" dirty="0"/>
              <a:t>Pre-conditions:</a:t>
            </a:r>
            <a:r>
              <a:rPr lang="en-US" sz="1500" dirty="0"/>
              <a:t> Older app version available.</a:t>
            </a:r>
          </a:p>
          <a:p>
            <a:pPr marL="0" indent="0">
              <a:buNone/>
            </a:pPr>
            <a:r>
              <a:rPr lang="en-US" sz="1500" b="1" dirty="0"/>
              <a:t>Steps:</a:t>
            </a:r>
          </a:p>
          <a:p>
            <a:pPr>
              <a:buFont typeface="+mj-lt"/>
              <a:buAutoNum type="arabicPeriod"/>
            </a:pPr>
            <a:r>
              <a:rPr lang="en-US" sz="1500" dirty="0"/>
              <a:t>Install an older version of the app on </a:t>
            </a:r>
            <a:r>
              <a:rPr lang="en-US" sz="1500" dirty="0" err="1"/>
              <a:t>Corellium</a:t>
            </a:r>
            <a:r>
              <a:rPr lang="en-US" sz="15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1500" dirty="0"/>
              <a:t>Launch the app and check for update prompts.</a:t>
            </a:r>
          </a:p>
          <a:p>
            <a:pPr>
              <a:buFont typeface="+mj-lt"/>
              <a:buAutoNum type="arabicPeriod"/>
            </a:pPr>
            <a:r>
              <a:rPr lang="en-US" sz="1500" dirty="0"/>
              <a:t>Verify updates occur securely.</a:t>
            </a:r>
          </a:p>
          <a:p>
            <a:pPr marL="0" indent="0">
              <a:buNone/>
            </a:pPr>
            <a:r>
              <a:rPr lang="en-US" sz="1500" b="1" dirty="0"/>
              <a:t>Expected Results: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/>
              <a:t>App enforces updates.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500" dirty="0"/>
              <a:t>Updates are delivered securely.</a:t>
            </a:r>
          </a:p>
          <a:p>
            <a:pPr marL="0" indent="0">
              <a:buNone/>
            </a:pPr>
            <a:r>
              <a:rPr lang="en-US" sz="1500" b="1" dirty="0"/>
              <a:t>Test Data:</a:t>
            </a:r>
            <a:r>
              <a:rPr lang="en-US" sz="1500" dirty="0"/>
              <a:t> Old app version.</a:t>
            </a:r>
          </a:p>
          <a:p>
            <a:pPr marL="0" indent="0">
              <a:buNone/>
            </a:pPr>
            <a:r>
              <a:rPr lang="en-US" sz="1500" b="1" dirty="0"/>
              <a:t>Test Environment:</a:t>
            </a:r>
            <a:r>
              <a:rPr lang="en-US" sz="1500" dirty="0"/>
              <a:t> </a:t>
            </a:r>
            <a:r>
              <a:rPr lang="en-US" sz="1500" dirty="0" err="1"/>
              <a:t>Corellium</a:t>
            </a:r>
            <a:r>
              <a:rPr lang="en-US" sz="1500" dirty="0"/>
              <a:t> virtual device.</a:t>
            </a:r>
          </a:p>
        </p:txBody>
      </p:sp>
    </p:spTree>
    <p:extLst>
      <p:ext uri="{BB962C8B-B14F-4D97-AF65-F5344CB8AC3E}">
        <p14:creationId xmlns:p14="http://schemas.microsoft.com/office/powerpoint/2010/main" val="63301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</TotalTime>
  <Words>708</Words>
  <Application>Microsoft Macintosh PowerPoint</Application>
  <PresentationFormat>Widescreen</PresentationFormat>
  <Paragraphs>98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-webkit-standard</vt:lpstr>
      <vt:lpstr>Aptos</vt:lpstr>
      <vt:lpstr>Aptos Display</vt:lpstr>
      <vt:lpstr>Arial</vt:lpstr>
      <vt:lpstr>Office Theme</vt:lpstr>
      <vt:lpstr>Mobile Security Test cases</vt:lpstr>
      <vt:lpstr>Validate Secure Login Mechanism</vt:lpstr>
      <vt:lpstr>Verify No Sensitive Data in Logs</vt:lpstr>
      <vt:lpstr>Validate Session Timeout</vt:lpstr>
      <vt:lpstr>Check for Hardcoded Sensitive Data</vt:lpstr>
      <vt:lpstr>Validate Secure Data Storage</vt:lpstr>
      <vt:lpstr>Test Input Validation and Error Handling</vt:lpstr>
      <vt:lpstr>Validate Secure App Updates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Sachin Gupta</dc:creator>
  <cp:lastModifiedBy>Sachin Gupta</cp:lastModifiedBy>
  <cp:revision>3</cp:revision>
  <dcterms:created xsi:type="dcterms:W3CDTF">2025-01-21T20:59:28Z</dcterms:created>
  <dcterms:modified xsi:type="dcterms:W3CDTF">2025-01-21T23:31:28Z</dcterms:modified>
</cp:coreProperties>
</file>