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8" r:id="rId11"/>
    <p:sldId id="267" r:id="rId12"/>
    <p:sldId id="266" r:id="rId13"/>
    <p:sldId id="265" r:id="rId14"/>
    <p:sldId id="264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4"/>
  </p:normalViewPr>
  <p:slideViewPr>
    <p:cSldViewPr snapToGrid="0">
      <p:cViewPr varScale="1">
        <p:scale>
          <a:sx n="102" d="100"/>
          <a:sy n="102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213BD-09E6-C240-89B2-C4F920C1D95E}" type="datetimeFigureOut">
              <a:rPr lang="en-US" smtClean="0"/>
              <a:t>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841B6-796A-FE43-BE43-D7853DEB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95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841B6-796A-FE43-BE43-D7853DEB0F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9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C57E-784C-E8F8-78C4-2459E6BE4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DF7DB9-545D-A0DF-E246-2336C33C6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F9586-513D-458C-3332-DF86E073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8E52F-9F5A-866C-19C0-8B614B77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529C-5556-61AC-AB9B-8609FD18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7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B4FF-71E9-3970-68B5-19808099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90BC7-22FA-5705-8C4F-1ECEE5FE4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E0FA3-6F35-A8B0-FE6C-0A67797B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F24AE-E53B-92E4-3AEC-821BA4CA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CAABC-9F51-A7FD-FD6E-1ECE353E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65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35EA-86B5-EB99-1CFF-43F3D549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E15E8-3BDB-D574-35DA-FC2031D6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42140-0C62-02B8-C633-453A9A38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CF594-4719-15AC-5F76-592B87302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ED70F-12F5-5F3F-14CC-4613B061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2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60C1-AC75-2694-55F1-B86336F4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53C74-9E4F-B97E-80B7-D5234B56F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332A9-4164-6E9D-E79A-15A823D74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B8309-16FA-0B66-C99A-DAB73EF6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42EB8-D2E6-77B6-596C-54B1D823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53015-143A-B960-5024-862BC3EC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54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324B-FCE7-F284-11A1-87867F5C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89786-834C-B9D4-D65D-FC46B908E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C95C6-F496-AE3C-7962-4C798053C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4C21E-32F7-0E76-7FED-9A7A9618C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1E2C8D-1DD6-3ED5-4125-6B8A1BE12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6B410-A1CB-9F65-7E90-3BC92724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630F96-B461-1A34-82E9-8573E1A9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269E5-23E0-C034-C0EF-9DBE03CE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6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1920-39A8-AD72-5A17-69BF234B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0AFCA-7BA9-B6B5-270A-211B28FF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EB067-EBE2-EC53-79AF-ECECA053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9815C-38FB-E5AE-2564-DD5F0F5B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8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BCC57-5968-838F-0426-836BA02C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2AFA5-0A71-480F-3AC0-D0BA9688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7C040-6771-7CDA-40CA-A6A2FD2A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7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C8B9-D09E-52C0-4E10-403E32253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625D-2071-5B8A-A3BE-9639AA7F1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C0140-E62B-2956-BB56-C444AAAC2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289AD-7094-AAE5-F022-39044B2F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AD222-E06F-C1C9-55BF-347931A6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C0473-A8A9-F0EF-AAD8-742CCDB9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9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2987-0F82-52F3-C7C0-B233DE65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DE2C11-5F97-F4FB-9547-47F6E0762B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FBC59-20D1-ED9B-E61D-BB78FB8F5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F3C32-A08D-D691-B175-873E9E210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C340A-168B-0A12-A8C7-02F666DAB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A949E-9EB2-D961-82B4-F9A699FC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6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262D-603A-B94F-782D-1204AB21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6DE79-ECB2-B5AD-35EF-A86765B2E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BD694-3E04-2A76-E441-366458C2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D093-D808-AF98-34A4-76B3A8CE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73898-0398-7A84-E5AD-8938C45C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85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9626F-1157-98A4-FAEA-D65FDDF3E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0CD9A-169B-2A23-A285-42ABBF1C4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5425C-0688-E0A6-CC99-999F7B77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EC09E-34E1-2810-2A24-47059E5CC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E8068-FA27-EDD6-6A5D-693A949B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5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115C27-FEEB-9812-301F-B117756FE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D24F5-B34D-3AA2-1AEA-168497454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31578-28C3-B133-86EA-71D56A3C4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CC587-631E-0949-8F83-35BD65CF1994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3503F-6943-3113-9E0C-98095D277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4E888-2E82-3A23-820F-40FED043B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DDA6B-DAD5-8042-A675-E1AA4E2E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2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D2B0-58B7-75B3-4870-400079422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Mobile Security Test cases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949D7-FA03-0D70-81C2-8684AAAC97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30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235E-FA4C-786F-4AC0-D4FC3E1C3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Validate Secure Login Mechanism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DB25B-23D6-820F-42C6-1C946FAC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493"/>
            <a:ext cx="10515600" cy="505238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Test Case ID:</a:t>
            </a:r>
            <a:r>
              <a:rPr lang="en-US" dirty="0"/>
              <a:t> TC-001</a:t>
            </a:r>
          </a:p>
          <a:p>
            <a:pPr marL="0" indent="0">
              <a:buNone/>
            </a:pPr>
            <a:r>
              <a:rPr lang="en-US" b="1" dirty="0"/>
              <a:t>Objective:</a:t>
            </a:r>
            <a:r>
              <a:rPr lang="en-US" dirty="0"/>
              <a:t> Ensure the login mechanism is secure and adheres to best practices.</a:t>
            </a:r>
          </a:p>
          <a:p>
            <a:pPr marL="0" indent="0">
              <a:buNone/>
            </a:pPr>
            <a:r>
              <a:rPr lang="en-US" b="1" dirty="0"/>
              <a:t>Pre-conditions: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APK/AAB/IPA file uploaded to </a:t>
            </a:r>
            <a:r>
              <a:rPr lang="en-US" dirty="0" err="1"/>
              <a:t>Corellium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Virtual device set up in </a:t>
            </a:r>
            <a:r>
              <a:rPr lang="en-US" dirty="0" err="1"/>
              <a:t>Corellium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dirty="0"/>
              <a:t>Install the app on the virtual device.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Navigate to the login screen.</a:t>
            </a:r>
          </a:p>
          <a:p>
            <a:pPr>
              <a:buFont typeface="+mj-lt"/>
              <a:buAutoNum type="arabicPeriod"/>
            </a:pPr>
            <a:r>
              <a:rPr lang="en-US" dirty="0"/>
              <a:t>Attempt login with: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Weak passwords (e.g., "123456").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Invalid email formats (e.g., "</a:t>
            </a:r>
            <a:r>
              <a:rPr lang="en-US" dirty="0" err="1"/>
              <a:t>user@com</a:t>
            </a:r>
            <a:r>
              <a:rPr lang="en-US" dirty="0"/>
              <a:t>").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Incorrect credentials.</a:t>
            </a:r>
          </a:p>
          <a:p>
            <a:pPr>
              <a:buFont typeface="+mj-lt"/>
              <a:buAutoNum type="arabicPeriod"/>
            </a:pPr>
            <a:r>
              <a:rPr lang="en-US" dirty="0"/>
              <a:t>Observe app behavior.</a:t>
            </a:r>
          </a:p>
          <a:p>
            <a:pPr marL="0" indent="0">
              <a:buNone/>
            </a:pPr>
            <a:r>
              <a:rPr lang="en-US" b="1" dirty="0"/>
              <a:t>Expected Results: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Strong password rules are enforced.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Passwords are masked.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Error messages do not expose sensitive details.</a:t>
            </a:r>
          </a:p>
          <a:p>
            <a:pPr marL="0" indent="0">
              <a:buNone/>
            </a:pPr>
            <a:r>
              <a:rPr lang="en-US" b="1" dirty="0"/>
              <a:t>Test Data: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Weak passwords: "123456", "password".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Invalid email: "</a:t>
            </a:r>
            <a:r>
              <a:rPr lang="en-US" dirty="0" err="1"/>
              <a:t>test@com</a:t>
            </a:r>
            <a:r>
              <a:rPr lang="en-US" dirty="0"/>
              <a:t>".</a:t>
            </a:r>
          </a:p>
          <a:p>
            <a:pPr marL="0" indent="0">
              <a:buNone/>
            </a:pPr>
            <a:r>
              <a:rPr lang="en-US" b="1" dirty="0"/>
              <a:t>Test Environment:</a:t>
            </a:r>
            <a:r>
              <a:rPr lang="en-US" dirty="0"/>
              <a:t> </a:t>
            </a:r>
            <a:r>
              <a:rPr lang="en-US" dirty="0" err="1"/>
              <a:t>Corellium</a:t>
            </a:r>
            <a:r>
              <a:rPr lang="en-US" dirty="0"/>
              <a:t> virtual device.</a:t>
            </a:r>
          </a:p>
        </p:txBody>
      </p:sp>
    </p:spTree>
    <p:extLst>
      <p:ext uri="{BB962C8B-B14F-4D97-AF65-F5344CB8AC3E}">
        <p14:creationId xmlns:p14="http://schemas.microsoft.com/office/powerpoint/2010/main" val="3900552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A2C492F-17D0-6628-41E8-257B9F83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E440-6EC7-3469-F0E3-C09FC391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Verify No Sensitive Data in Logs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E79E3-6203-83F7-62F3-A1649F18B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1500" b="1" dirty="0"/>
              <a:t>Test Case ID: </a:t>
            </a:r>
            <a:r>
              <a:rPr lang="en-US" sz="1500" dirty="0"/>
              <a:t>TC-002</a:t>
            </a:r>
          </a:p>
          <a:p>
            <a:pPr marL="0" indent="0">
              <a:buNone/>
            </a:pPr>
            <a:r>
              <a:rPr lang="en-US" sz="1500" b="1" dirty="0"/>
              <a:t>Objective: </a:t>
            </a:r>
            <a:r>
              <a:rPr lang="en-US" sz="1500" dirty="0"/>
              <a:t>Ensure sensitive information is not logged during app operations.</a:t>
            </a:r>
          </a:p>
          <a:p>
            <a:pPr marL="0" indent="0">
              <a:buNone/>
            </a:pPr>
            <a:r>
              <a:rPr lang="en-US" sz="1500" b="1" dirty="0"/>
              <a:t>Pre-conditions</a:t>
            </a:r>
            <a:r>
              <a:rPr lang="en-US" sz="1500" dirty="0"/>
              <a:t>: </a:t>
            </a:r>
            <a:r>
              <a:rPr lang="en-US" sz="1500" dirty="0" err="1"/>
              <a:t>Corellium</a:t>
            </a:r>
            <a:r>
              <a:rPr lang="en-US" sz="1500" dirty="0"/>
              <a:t> console logs enabled.</a:t>
            </a:r>
          </a:p>
          <a:p>
            <a:pPr marL="0" indent="0">
              <a:buNone/>
            </a:pPr>
            <a:r>
              <a:rPr lang="en-US" sz="1500" b="1" dirty="0"/>
              <a:t>Steps: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/>
              <a:t> Launch the app on the </a:t>
            </a:r>
            <a:r>
              <a:rPr lang="en-US" sz="1500" dirty="0" err="1"/>
              <a:t>Corellium</a:t>
            </a:r>
            <a:r>
              <a:rPr lang="en-US" sz="1500" dirty="0"/>
              <a:t> virtual device.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/>
              <a:t>Perform sensitive actions (e.g., login, registration).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/>
              <a:t>Monitor logs in real-time for sensitive data like passwords or API keys.</a:t>
            </a:r>
          </a:p>
          <a:p>
            <a:pPr marL="0" indent="0">
              <a:buNone/>
            </a:pPr>
            <a:r>
              <a:rPr lang="en-US" sz="1500" b="1" dirty="0"/>
              <a:t>Expected Results: </a:t>
            </a:r>
            <a:r>
              <a:rPr lang="en-US" sz="1500" dirty="0"/>
              <a:t>No sensitive data is logged.</a:t>
            </a:r>
          </a:p>
          <a:p>
            <a:pPr marL="0" indent="0">
              <a:buNone/>
            </a:pPr>
            <a:r>
              <a:rPr lang="en-US" sz="1500" b="1" dirty="0"/>
              <a:t>Test Data</a:t>
            </a:r>
            <a:r>
              <a:rPr lang="en-US" sz="1500" dirty="0"/>
              <a:t>: User credentials for login.</a:t>
            </a:r>
          </a:p>
          <a:p>
            <a:pPr marL="0" indent="0">
              <a:buNone/>
            </a:pPr>
            <a:r>
              <a:rPr lang="en-US" sz="1500" b="1" dirty="0"/>
              <a:t>Test Environment</a:t>
            </a:r>
            <a:r>
              <a:rPr lang="en-US" sz="1500" dirty="0"/>
              <a:t>: </a:t>
            </a:r>
            <a:r>
              <a:rPr lang="en-US" sz="1500" dirty="0" err="1"/>
              <a:t>Corellium</a:t>
            </a:r>
            <a:r>
              <a:rPr lang="en-US" sz="1500" dirty="0"/>
              <a:t> with console logs active.</a:t>
            </a:r>
          </a:p>
        </p:txBody>
      </p:sp>
    </p:spTree>
    <p:extLst>
      <p:ext uri="{BB962C8B-B14F-4D97-AF65-F5344CB8AC3E}">
        <p14:creationId xmlns:p14="http://schemas.microsoft.com/office/powerpoint/2010/main" val="1053310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28FA21F-F7FF-3911-2C93-C49B8399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1F22-E294-F3E6-B6D3-82EDF468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Validate Session Timeout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834B4-8A01-5290-36C0-10B66B170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Test Case ID:</a:t>
            </a:r>
            <a:r>
              <a:rPr lang="en-US" sz="1500" dirty="0"/>
              <a:t> TC-003</a:t>
            </a:r>
          </a:p>
          <a:p>
            <a:pPr marL="0" indent="0">
              <a:buNone/>
            </a:pPr>
            <a:r>
              <a:rPr lang="en-US" sz="1500" b="1" dirty="0"/>
              <a:t>Objective:</a:t>
            </a:r>
            <a:r>
              <a:rPr lang="en-US" sz="1500" dirty="0"/>
              <a:t> Ensure sessions expire after a set period of inactivity.</a:t>
            </a:r>
          </a:p>
          <a:p>
            <a:pPr marL="0" indent="0">
              <a:buNone/>
            </a:pPr>
            <a:r>
              <a:rPr lang="en-US" sz="1500" b="1" dirty="0"/>
              <a:t>Pre-conditions: </a:t>
            </a:r>
            <a:r>
              <a:rPr lang="en-US" sz="1500" dirty="0"/>
              <a:t>User logged in to the app.</a:t>
            </a:r>
          </a:p>
          <a:p>
            <a:pPr marL="0" indent="0">
              <a:buNone/>
            </a:pPr>
            <a:r>
              <a:rPr lang="en-US" sz="1500" b="1" dirty="0"/>
              <a:t>Steps: </a:t>
            </a:r>
            <a:r>
              <a:rPr lang="en-US" sz="1500" dirty="0"/>
              <a:t>Log in to the app.</a:t>
            </a:r>
          </a:p>
          <a:p>
            <a:pPr lvl="2">
              <a:buFont typeface="+mj-lt"/>
              <a:buAutoNum type="arabicPeriod"/>
            </a:pPr>
            <a:r>
              <a:rPr lang="en-US" sz="1500" dirty="0"/>
              <a:t>Stay idle for the session timeout period (e.g., 15 minutes).</a:t>
            </a:r>
          </a:p>
          <a:p>
            <a:pPr lvl="2">
              <a:buFont typeface="+mj-lt"/>
              <a:buAutoNum type="arabicPeriod"/>
            </a:pPr>
            <a:r>
              <a:rPr lang="en-US" sz="1500" dirty="0"/>
              <a:t>Attempt to interact with the app post-timeout.</a:t>
            </a:r>
          </a:p>
          <a:p>
            <a:pPr marL="0" indent="0">
              <a:buNone/>
            </a:pPr>
            <a:r>
              <a:rPr lang="en-US" sz="1500" b="1" dirty="0"/>
              <a:t>Expected Results: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/>
              <a:t>User is logged out.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500" dirty="0"/>
              <a:t>Reauthentication is required to access sensitive data.</a:t>
            </a:r>
          </a:p>
          <a:p>
            <a:pPr marL="0" indent="0">
              <a:buNone/>
            </a:pPr>
            <a:r>
              <a:rPr lang="en-US" sz="1500" b="1" dirty="0"/>
              <a:t>Test Data:</a:t>
            </a:r>
            <a:r>
              <a:rPr lang="en-US" sz="1500" dirty="0"/>
              <a:t> Active user session.</a:t>
            </a:r>
          </a:p>
          <a:p>
            <a:pPr marL="0" indent="0">
              <a:buNone/>
            </a:pPr>
            <a:r>
              <a:rPr lang="en-US" sz="1500" b="1" dirty="0"/>
              <a:t>Test Environment:</a:t>
            </a:r>
            <a:r>
              <a:rPr lang="en-US" sz="1500" dirty="0"/>
              <a:t> Corallium virtual device.</a:t>
            </a:r>
          </a:p>
        </p:txBody>
      </p:sp>
    </p:spTree>
    <p:extLst>
      <p:ext uri="{BB962C8B-B14F-4D97-AF65-F5344CB8AC3E}">
        <p14:creationId xmlns:p14="http://schemas.microsoft.com/office/powerpoint/2010/main" val="2175798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EE35-FA44-D723-2A36-AF62E1495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Check for Hardcoded Sensitive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1490B-0037-3258-EFA7-B2711861C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Test Case ID:</a:t>
            </a:r>
            <a:r>
              <a:rPr lang="en-US" sz="1500" dirty="0"/>
              <a:t> TC-004</a:t>
            </a:r>
          </a:p>
          <a:p>
            <a:pPr marL="0" indent="0">
              <a:buNone/>
            </a:pPr>
            <a:r>
              <a:rPr lang="en-US" sz="1500" b="1" dirty="0"/>
              <a:t>Objective:</a:t>
            </a:r>
            <a:r>
              <a:rPr lang="en-US" sz="1500" dirty="0"/>
              <a:t> Ensure sensitive data is not hardcoded in app files.</a:t>
            </a:r>
          </a:p>
          <a:p>
            <a:pPr marL="0" indent="0">
              <a:buNone/>
            </a:pPr>
            <a:r>
              <a:rPr lang="en-US" sz="1500" b="1" dirty="0" err="1"/>
              <a:t>Pre-conditions:</a:t>
            </a:r>
            <a:r>
              <a:rPr lang="en-US" sz="1500" dirty="0" err="1"/>
              <a:t>Corellium</a:t>
            </a:r>
            <a:r>
              <a:rPr lang="en-US" sz="1500" dirty="0"/>
              <a:t> file system access enabled.</a:t>
            </a:r>
          </a:p>
          <a:p>
            <a:pPr marL="0" indent="0">
              <a:buNone/>
            </a:pPr>
            <a:r>
              <a:rPr lang="en-US" sz="1500" b="1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Explore app directories using </a:t>
            </a:r>
            <a:r>
              <a:rPr lang="en-US" sz="1500" dirty="0" err="1"/>
              <a:t>Corellium’s</a:t>
            </a:r>
            <a:r>
              <a:rPr lang="en-US" sz="1500" dirty="0"/>
              <a:t> file explorer.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Search for hardcoded sensitive data in: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Configuration files.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Resource files (e.g., res/values/</a:t>
            </a:r>
            <a:r>
              <a:rPr lang="en-US" sz="1500" dirty="0" err="1"/>
              <a:t>strings.xml</a:t>
            </a:r>
            <a:r>
              <a:rPr lang="en-US" sz="1500" dirty="0"/>
              <a:t> on Android).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Trigger error conditions to check for sensitive data in crash reports.</a:t>
            </a:r>
          </a:p>
          <a:p>
            <a:pPr marL="0" indent="0">
              <a:buNone/>
            </a:pPr>
            <a:r>
              <a:rPr lang="en-US" sz="1500" b="1" dirty="0"/>
              <a:t>Expected Results:</a:t>
            </a:r>
            <a:r>
              <a:rPr lang="en-US" sz="1500" dirty="0"/>
              <a:t> No sensitive data is hardcoded or exposed.</a:t>
            </a:r>
          </a:p>
          <a:p>
            <a:pPr marL="0" indent="0">
              <a:buNone/>
            </a:pPr>
            <a:r>
              <a:rPr lang="en-US" sz="1500" b="1" dirty="0"/>
              <a:t>Test Data:</a:t>
            </a:r>
            <a:r>
              <a:rPr lang="en-US" sz="1500" dirty="0"/>
              <a:t> Not applicable.</a:t>
            </a:r>
          </a:p>
          <a:p>
            <a:pPr marL="0" indent="0">
              <a:buNone/>
            </a:pPr>
            <a:r>
              <a:rPr lang="en-US" sz="1500" b="1" dirty="0"/>
              <a:t>Test Environment:</a:t>
            </a:r>
            <a:r>
              <a:rPr lang="en-US" sz="1500" dirty="0"/>
              <a:t> </a:t>
            </a:r>
            <a:r>
              <a:rPr lang="en-US" sz="1500" dirty="0" err="1"/>
              <a:t>Corellium</a:t>
            </a:r>
            <a:r>
              <a:rPr lang="en-US" sz="1500" dirty="0"/>
              <a:t> with file system access.</a:t>
            </a:r>
          </a:p>
        </p:txBody>
      </p:sp>
    </p:spTree>
    <p:extLst>
      <p:ext uri="{BB962C8B-B14F-4D97-AF65-F5344CB8AC3E}">
        <p14:creationId xmlns:p14="http://schemas.microsoft.com/office/powerpoint/2010/main" val="173746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1F93-ED8F-AEFE-CC0B-0541F28A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Validate Secure Data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BDEC4-D334-CADA-9B75-6323CD296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Test Case ID:</a:t>
            </a:r>
            <a:r>
              <a:rPr lang="en-US" sz="1500" dirty="0"/>
              <a:t> TC-005</a:t>
            </a:r>
          </a:p>
          <a:p>
            <a:pPr marL="0" indent="0">
              <a:buNone/>
            </a:pPr>
            <a:r>
              <a:rPr lang="en-US" sz="1500" b="1" dirty="0"/>
              <a:t>Objective:</a:t>
            </a:r>
            <a:r>
              <a:rPr lang="en-US" sz="1500" dirty="0"/>
              <a:t> Ensure sensitive data is stored securely.</a:t>
            </a:r>
          </a:p>
          <a:p>
            <a:pPr marL="0" indent="0">
              <a:buNone/>
            </a:pPr>
            <a:r>
              <a:rPr lang="en-US" sz="1500" b="1" dirty="0" err="1"/>
              <a:t>Pre-conditions:</a:t>
            </a:r>
            <a:r>
              <a:rPr lang="en-US" sz="1500" dirty="0" err="1"/>
              <a:t>App</a:t>
            </a:r>
            <a:r>
              <a:rPr lang="en-US" sz="1500" dirty="0"/>
              <a:t> installed and </a:t>
            </a:r>
            <a:r>
              <a:rPr lang="en-US" sz="1500" dirty="0" err="1"/>
              <a:t>Corellium</a:t>
            </a:r>
            <a:r>
              <a:rPr lang="en-US" sz="1500" dirty="0"/>
              <a:t> file explorer available.</a:t>
            </a:r>
          </a:p>
          <a:p>
            <a:pPr marL="0" indent="0">
              <a:buNone/>
            </a:pPr>
            <a:r>
              <a:rPr lang="en-US" sz="1500" b="1" dirty="0" err="1"/>
              <a:t>Steps:</a:t>
            </a:r>
            <a:r>
              <a:rPr lang="en-US" sz="1500" dirty="0" err="1"/>
              <a:t>Perform</a:t>
            </a:r>
            <a:r>
              <a:rPr lang="en-US" sz="1500" dirty="0"/>
              <a:t> actions that generate sensitive data (e.g., login, payment).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Inspect storage locations (e.g., /data/data/&lt;</a:t>
            </a:r>
            <a:r>
              <a:rPr lang="en-US" sz="1500" dirty="0" err="1"/>
              <a:t>app_package_name</a:t>
            </a:r>
            <a:r>
              <a:rPr lang="en-US" sz="1500" dirty="0"/>
              <a:t>&gt;).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Check for encrypted storage of sensitive data.</a:t>
            </a:r>
          </a:p>
          <a:p>
            <a:pPr marL="0" indent="0">
              <a:buNone/>
            </a:pPr>
            <a:r>
              <a:rPr lang="en-US" sz="1500" b="1" dirty="0"/>
              <a:t>Expected Results: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Sensitive data is encrypted or securely stored.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No plaintext storage of sensitive data.</a:t>
            </a:r>
          </a:p>
          <a:p>
            <a:pPr marL="0" indent="0">
              <a:buNone/>
            </a:pPr>
            <a:r>
              <a:rPr lang="en-US" sz="1500" b="1" dirty="0"/>
              <a:t>Test Data:</a:t>
            </a:r>
            <a:r>
              <a:rPr lang="en-US" sz="1500" dirty="0"/>
              <a:t> User credentials, payment information.</a:t>
            </a:r>
          </a:p>
          <a:p>
            <a:pPr marL="0" indent="0">
              <a:buNone/>
            </a:pPr>
            <a:r>
              <a:rPr lang="en-US" sz="1500" b="1" dirty="0"/>
              <a:t>Test Environment:</a:t>
            </a:r>
            <a:r>
              <a:rPr lang="en-US" sz="1500" dirty="0"/>
              <a:t> </a:t>
            </a:r>
            <a:r>
              <a:rPr lang="en-US" sz="1500" dirty="0" err="1"/>
              <a:t>Corellium</a:t>
            </a:r>
            <a:r>
              <a:rPr lang="en-US" sz="1500" dirty="0"/>
              <a:t> virtual device.</a:t>
            </a:r>
          </a:p>
        </p:txBody>
      </p:sp>
    </p:spTree>
    <p:extLst>
      <p:ext uri="{BB962C8B-B14F-4D97-AF65-F5344CB8AC3E}">
        <p14:creationId xmlns:p14="http://schemas.microsoft.com/office/powerpoint/2010/main" val="27126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CD2E-5201-7568-FC91-60522DD5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Test Input Validation and Error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EE5C3-6238-511E-19A8-091E5D9D5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Test Case ID:</a:t>
            </a:r>
            <a:r>
              <a:rPr lang="en-US" sz="1500" dirty="0"/>
              <a:t> TC-006</a:t>
            </a:r>
          </a:p>
          <a:p>
            <a:pPr marL="0" indent="0">
              <a:buNone/>
            </a:pPr>
            <a:r>
              <a:rPr lang="en-US" sz="1500" b="1" dirty="0"/>
              <a:t>Objective:</a:t>
            </a:r>
            <a:r>
              <a:rPr lang="en-US" sz="1500" dirty="0"/>
              <a:t> Ensure the app validates user input and handles errors gracefully.</a:t>
            </a:r>
          </a:p>
          <a:p>
            <a:pPr marL="0" indent="0">
              <a:buNone/>
            </a:pPr>
            <a:r>
              <a:rPr lang="en-US" sz="1500" b="1" dirty="0"/>
              <a:t>Pre-conditions:</a:t>
            </a:r>
            <a:r>
              <a:rPr lang="en-US" sz="1500" dirty="0"/>
              <a:t> App installed and functional.</a:t>
            </a:r>
          </a:p>
          <a:p>
            <a:pPr marL="0" indent="0">
              <a:buNone/>
            </a:pPr>
            <a:r>
              <a:rPr lang="en-US" sz="1500" b="1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Enter invalid data into input fields: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Special characters (e.g., &lt;&gt;!@#$%^&amp;*).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Long strings (e.g., 1,000 characters).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Observe app behavior.</a:t>
            </a:r>
          </a:p>
          <a:p>
            <a:pPr marL="0" indent="0">
              <a:buNone/>
            </a:pPr>
            <a:r>
              <a:rPr lang="en-US" sz="1500" b="1" dirty="0"/>
              <a:t>Expected Results: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Inputs are validated.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App doesn’t crash or expose sensitive error messages.</a:t>
            </a:r>
          </a:p>
          <a:p>
            <a:pPr marL="0" indent="0">
              <a:buNone/>
            </a:pPr>
            <a:r>
              <a:rPr lang="en-US" sz="1500" b="1" dirty="0"/>
              <a:t>Test Data:</a:t>
            </a:r>
            <a:r>
              <a:rPr lang="en-US" sz="1500" dirty="0"/>
              <a:t> Invalid inputs, long strings.</a:t>
            </a:r>
          </a:p>
          <a:p>
            <a:pPr marL="0" indent="0">
              <a:buNone/>
            </a:pPr>
            <a:r>
              <a:rPr lang="en-US" sz="1500" b="1" dirty="0"/>
              <a:t>Test Environment:</a:t>
            </a:r>
            <a:r>
              <a:rPr lang="en-US" sz="1500" dirty="0"/>
              <a:t> </a:t>
            </a:r>
            <a:r>
              <a:rPr lang="en-US" sz="1500" dirty="0" err="1"/>
              <a:t>Corellium</a:t>
            </a:r>
            <a:r>
              <a:rPr lang="en-US" sz="1500" dirty="0"/>
              <a:t> virtual device.</a:t>
            </a:r>
          </a:p>
        </p:txBody>
      </p:sp>
    </p:spTree>
    <p:extLst>
      <p:ext uri="{BB962C8B-B14F-4D97-AF65-F5344CB8AC3E}">
        <p14:creationId xmlns:p14="http://schemas.microsoft.com/office/powerpoint/2010/main" val="4234553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F70D-CD10-DEE9-BE21-894FC780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Validate Secure App Updates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2EA01-C5E7-B1AE-7E99-152049C0E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Test Case ID:</a:t>
            </a:r>
            <a:r>
              <a:rPr lang="en-US" sz="1500" dirty="0"/>
              <a:t> TC-007</a:t>
            </a:r>
          </a:p>
          <a:p>
            <a:pPr marL="0" indent="0">
              <a:buNone/>
            </a:pPr>
            <a:r>
              <a:rPr lang="en-US" sz="1500" b="1" dirty="0"/>
              <a:t>Objective:</a:t>
            </a:r>
            <a:r>
              <a:rPr lang="en-US" sz="1500" dirty="0"/>
              <a:t> Ensure app updates are secure.</a:t>
            </a:r>
          </a:p>
          <a:p>
            <a:pPr marL="0" indent="0">
              <a:buNone/>
            </a:pPr>
            <a:r>
              <a:rPr lang="en-US" sz="1500" b="1" dirty="0"/>
              <a:t>Pre-conditions:</a:t>
            </a:r>
            <a:r>
              <a:rPr lang="en-US" sz="1500" dirty="0"/>
              <a:t> Older app version available.</a:t>
            </a:r>
          </a:p>
          <a:p>
            <a:pPr marL="0" indent="0">
              <a:buNone/>
            </a:pPr>
            <a:r>
              <a:rPr lang="en-US" sz="1500" b="1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Install an older version of the app on </a:t>
            </a:r>
            <a:r>
              <a:rPr lang="en-US" sz="1500" dirty="0" err="1"/>
              <a:t>Corellium</a:t>
            </a:r>
            <a:r>
              <a:rPr lang="en-US" sz="15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Launch the app and check for update prompts.</a:t>
            </a:r>
          </a:p>
          <a:p>
            <a:pPr>
              <a:buFont typeface="+mj-lt"/>
              <a:buAutoNum type="arabicPeriod"/>
            </a:pPr>
            <a:r>
              <a:rPr lang="en-US" sz="1500" dirty="0"/>
              <a:t>Verify updates occur securely.</a:t>
            </a:r>
          </a:p>
          <a:p>
            <a:pPr marL="0" indent="0">
              <a:buNone/>
            </a:pPr>
            <a:r>
              <a:rPr lang="en-US" sz="1500" b="1" dirty="0"/>
              <a:t>Expected Results: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App enforces updates.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Updates are delivered securely.</a:t>
            </a:r>
          </a:p>
          <a:p>
            <a:pPr marL="0" indent="0">
              <a:buNone/>
            </a:pPr>
            <a:r>
              <a:rPr lang="en-US" sz="1500" b="1" dirty="0"/>
              <a:t>Test Data:</a:t>
            </a:r>
            <a:r>
              <a:rPr lang="en-US" sz="1500" dirty="0"/>
              <a:t> Old app version.</a:t>
            </a:r>
          </a:p>
          <a:p>
            <a:pPr marL="0" indent="0">
              <a:buNone/>
            </a:pPr>
            <a:r>
              <a:rPr lang="en-US" sz="1500" b="1" dirty="0"/>
              <a:t>Test Environment:</a:t>
            </a:r>
            <a:r>
              <a:rPr lang="en-US" sz="1500" dirty="0"/>
              <a:t> </a:t>
            </a:r>
            <a:r>
              <a:rPr lang="en-US" sz="1500" dirty="0" err="1"/>
              <a:t>Corellium</a:t>
            </a:r>
            <a:r>
              <a:rPr lang="en-US" sz="1500" dirty="0"/>
              <a:t> virtual device.</a:t>
            </a:r>
          </a:p>
        </p:txBody>
      </p:sp>
    </p:spTree>
    <p:extLst>
      <p:ext uri="{BB962C8B-B14F-4D97-AF65-F5344CB8AC3E}">
        <p14:creationId xmlns:p14="http://schemas.microsoft.com/office/powerpoint/2010/main" val="63301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56198-5998-47BA-394F-2B69C369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Check for Proper Logout Mechanism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1C7C7-87E3-EEC1-FA1B-8EE4DD34A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474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Case ID: TC-008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 validate that the logout mechanism effectively terminates the user session and prevents unauthorized access to sensitive sections after logging out.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Pre-conditions: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APK/AAB/IPA file must be uploaded and installed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should have an active user account for testing.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must provide sensitive sections accessible only after logging in.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Log in to the app with valid credentials.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Navigate to sensitive sections of the app, such as account details or payment history.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Log out using the provided logout option.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After logging out, attempt to access the previously visited sensitive sections using: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back button.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Any other navigation options available (e.g., deep links, recently opened activities).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Expected Results: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session should be terminated immediately after logout.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Access to sensitive sections should be blocked, and the app should redirect to the login screen.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Session tokens or sensitive data should not persist in storage, preventing re-access.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Data: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Test credentials (e.g., username and password).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Sensitive app sections to test (e.g., account profile, payment details).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Environment: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 with Android or iOS.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File system and session inspection tools available in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to validate session termination.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10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979A-1568-A2F6-BAC9-F344BED0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Validate Clipboard Data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12E27-6A80-CEE9-7A9E-7B843DA89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266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Case ID: TC-009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 ensure the app does not retain sensitive information (e.g., passwords or credit card numbers) in the clipboard, preventing potential data leakage.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Pre-conditions: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APK/AAB/IPA file must be uploaded and installed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must contain fields where sensitive information can be entered (e.g., password fields, payment forms).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Clipboard functionality is enabled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Navigate to a field where sensitive information is entered (e.g., password or credit card fields).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Enter sensitive data into the field and copy it to the clipboard.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Switch to another app running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Paste the clipboard content into a text field in the other app.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Expected Results: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Sensitive data (e.g., passwords, credit card numbers) should not remain in the clipboard after leaving the app.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clipboard should either be cleared or contain non-sensitive placeholder text.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Data: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Sample sensitive data, such as: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Password: Test@1234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Credit Card: 4111 1111 1111 1111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Environment: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 with Android or iOS.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Clipboard monitoring tools available on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for validation.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987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3120-2EF6-4F4B-FABF-BE68D45A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Test URL Manipulation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4D495-E688-E846-BB30-43953CDF9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636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Case ID: TC-010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Objective: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 validate that the app's backend and API endpoints are secure and prevent unauthorized access to sensitive data or resources through URL parameter manipulation.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Pre-conditions: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APK/AAB/IPA file must be uploaded and installed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Corellium’s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network proxy or intercept features must be configured and ready for monitoring network traffic.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should use HTTP or HTTPS for communication with a server.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Perform actions in the app (e.g., viewing user details, loading content) and observe the URLs used in network requests.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Corellium’s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network proxy or intercept features to: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Identify URL parameters (e.g., id=123).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Modify URL parameters to unauthorized values (e.g., change id=123 to id=456).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Submit the modified request and observe the app’s behavior.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Expected Results: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should validate all incoming requests and ensure access is limited to authorized users.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Unauthorized access to sensitive data or resources should be blocked.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server should return an error message (e.g., 403 Forbidden) for manipulated requests.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Data: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 and invalid URL parameters for testing.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Example: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Valid: https://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api.app.com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user?id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=123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Invalid: https://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api.app.com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user?id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=456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Environment: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 with Android or iOS.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Corellium’s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network proxy or intercept tool enabled for monitoring and modifying requests.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476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249A-976C-11F5-147F-B9F4D4F0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Check Network Communication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39E45-DC51-4BDA-1612-ABC42977A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266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Case ID: TC-011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Objective: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 verify that the app uses secure network communication protocols (e.g., HTTPS) and does not transmit sensitive data (e.g., passwords, tokens) in plaintext.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Pre-conditions: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APK/AAB/IPA file must be uploaded and installed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Corellium’s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network packet capture or proxy tool must be enabled and configured.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must involve network communication (e.g., login, data submission).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Enable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network packet capture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Perform critical actions in the app, such as: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Logging in with valid credentials.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Submitting sensitive data (e.g., payment details or forms).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Review the captured network traffic for: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Whether all requests use HTTPS.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Whether sensitive data is encrypted or sent in plaintext.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Expected Results: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All network traffic should use HTTPS (secure communication).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Sensitive data such as passwords, tokens, or credit card numbers should never be transmitted in plaintext.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Any intercepted data should be encrypted and unreadable.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Data: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Test credentials: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Username: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testuser@example.com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Password: Secure@1234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Example sensitive data: Credit card number, email, or personal identifiers.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Environment: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 with Android or iOS.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Network packet capture tool in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for monitoring and reviewing traffic.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39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7F0A-F207-4BD2-D7FF-70B35A20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Validate Error Message 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35E4-377F-99A3-9431-A5E4F612B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481"/>
            <a:ext cx="10515600" cy="43513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Test Case ID:</a:t>
            </a:r>
            <a:r>
              <a:rPr lang="en-US" dirty="0"/>
              <a:t> TC-012</a:t>
            </a:r>
          </a:p>
          <a:p>
            <a:pPr marL="0" indent="0">
              <a:buNone/>
            </a:pPr>
            <a:r>
              <a:rPr lang="en-US" b="1" dirty="0"/>
              <a:t>Objective:</a:t>
            </a:r>
            <a:r>
              <a:rPr lang="en-US" dirty="0"/>
              <a:t> Ensure error messages are user-friendly and do not expose sensitive system details.</a:t>
            </a:r>
          </a:p>
          <a:p>
            <a:pPr marL="0" indent="0">
              <a:buNone/>
            </a:pPr>
            <a:r>
              <a:rPr lang="en-US" b="1" dirty="0" err="1"/>
              <a:t>Pre-conditions:</a:t>
            </a:r>
            <a:r>
              <a:rPr lang="en-US" dirty="0" err="1"/>
              <a:t>APK</a:t>
            </a:r>
            <a:r>
              <a:rPr lang="en-US" dirty="0"/>
              <a:t>/AAB/IPA installed on </a:t>
            </a:r>
            <a:r>
              <a:rPr lang="en-US" dirty="0" err="1"/>
              <a:t>Corellium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fields or actions capable of triggering errors.</a:t>
            </a:r>
          </a:p>
          <a:p>
            <a:pPr marL="0" indent="0">
              <a:buNone/>
            </a:pPr>
            <a:r>
              <a:rPr lang="en-US" b="1" dirty="0" err="1"/>
              <a:t>Steps:</a:t>
            </a:r>
            <a:r>
              <a:rPr lang="en-US" dirty="0" err="1"/>
              <a:t>Launch</a:t>
            </a:r>
            <a:r>
              <a:rPr lang="en-US" dirty="0"/>
              <a:t> the app on </a:t>
            </a:r>
            <a:r>
              <a:rPr lang="en-US" dirty="0" err="1"/>
              <a:t>Corellium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Trigger errors by: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Logging in with incorrect credentials.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Uploading invalid files (e.g., .exe).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Submitting forms with blank mandatory fields.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Forcing network failures (e.g., disconnecting the device).</a:t>
            </a:r>
          </a:p>
          <a:p>
            <a:pPr>
              <a:buFont typeface="+mj-lt"/>
              <a:buAutoNum type="arabicPeriod"/>
            </a:pPr>
            <a:r>
              <a:rPr lang="en-US" dirty="0"/>
              <a:t>Observe error messages displayed.</a:t>
            </a:r>
          </a:p>
          <a:p>
            <a:pPr>
              <a:buFont typeface="+mj-lt"/>
              <a:buAutoNum type="arabicPeriod"/>
            </a:pPr>
            <a:r>
              <a:rPr lang="en-US" dirty="0"/>
              <a:t>Verify they are user-friendly and do not expose sensitive details like stack traces or server configurations.</a:t>
            </a:r>
          </a:p>
          <a:p>
            <a:pPr marL="0" indent="0">
              <a:buNone/>
            </a:pPr>
            <a:r>
              <a:rPr lang="en-US" b="1" dirty="0"/>
              <a:t>Expected 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Errors display general, user-friendly messages (e.g., "Invalid credentials").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sensitive system information is revealed.</a:t>
            </a:r>
          </a:p>
          <a:p>
            <a:pPr marL="0" indent="0">
              <a:buNone/>
            </a:pPr>
            <a:r>
              <a:rPr lang="en-US" b="1" dirty="0"/>
              <a:t>Test Data: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Invalid credentials: </a:t>
            </a:r>
            <a:r>
              <a:rPr lang="en-US" dirty="0" err="1"/>
              <a:t>invaliduser@example.com</a:t>
            </a:r>
            <a:r>
              <a:rPr lang="en-US" dirty="0"/>
              <a:t> / </a:t>
            </a:r>
            <a:r>
              <a:rPr lang="en-US" dirty="0" err="1"/>
              <a:t>wrongpassword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Unsupported files: .exe, .bat.</a:t>
            </a:r>
          </a:p>
          <a:p>
            <a:pPr marL="0" indent="0">
              <a:buNone/>
            </a:pPr>
            <a:r>
              <a:rPr lang="en-US" b="1" dirty="0"/>
              <a:t>Test </a:t>
            </a:r>
            <a:r>
              <a:rPr lang="en-US" b="1" dirty="0" err="1"/>
              <a:t>Environment:</a:t>
            </a:r>
            <a:r>
              <a:rPr lang="en-US" dirty="0" err="1"/>
              <a:t>Corellium</a:t>
            </a:r>
            <a:r>
              <a:rPr lang="en-US" dirty="0"/>
              <a:t> virtual device with Android/iOS.</a:t>
            </a:r>
          </a:p>
        </p:txBody>
      </p:sp>
    </p:spTree>
    <p:extLst>
      <p:ext uri="{BB962C8B-B14F-4D97-AF65-F5344CB8AC3E}">
        <p14:creationId xmlns:p14="http://schemas.microsoft.com/office/powerpoint/2010/main" val="445331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EAE0D-F821-1B45-4E98-0B5F9D6C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Test for Device Binding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59F40-4816-08A9-3227-EB7305626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3274"/>
          </a:xfrm>
        </p:spPr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Case ID: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TC-013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Ensure the app enforces device binding to restrict unauthorized access and requires additional verification when the same credentials are used on a new device.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Pre-conditions: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APK/AAB/IPA installed on multiple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 user credentials for the app.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on one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 and log in with valid credentials.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on a second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 and attempt to log in using the same credentials.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Verify the app's behavior: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Restricts access on the second device.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Sends a notification or requires additional verification (e.g., OTP or email confirmation) on the original device.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Expected Results: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restricts access on the new device unless additional verification is completed.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Notifications or verification prompts are sent to the original device.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No unauthorized session is created on the second device.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Data: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 credentials: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Username: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testuser@example.com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Password: Secure@1234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Environment: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devices with Android/iOS.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Network connectivity enabled for both devices.</a:t>
            </a:r>
          </a:p>
        </p:txBody>
      </p:sp>
    </p:spTree>
    <p:extLst>
      <p:ext uri="{BB962C8B-B14F-4D97-AF65-F5344CB8AC3E}">
        <p14:creationId xmlns:p14="http://schemas.microsoft.com/office/powerpoint/2010/main" val="238248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BEF9E-8346-2142-2DA4-400A3278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Test App Permissions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C9882-FA9B-894F-9965-6EB86B76E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Case ID: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TC-014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Verify that the app requests only relevant permissions and functions properly even if unnecessary permissions are denied.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Pre-conditions: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APK/AAB/IPA file installed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Access to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Corellium’s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permission explorer.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installation process on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and observe the permissions requested.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Corellium's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permission explorer to review all granted permissions.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Verify whether the requested permissions are relevant to the app’s core functionality.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Deny unnecessary permissions (e.g., location, camera) using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Corellium’s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permission controls.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Test app functionality after denying unnecessary permissions to ensure it handles the restrictions gracefully.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Expected Results: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requests only necessary permissions relevant to its functionality.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functions correctly when unnecessary permissions are denied, without crashing or behaving unexpectedly.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Unnecessary permissions (if requested) should not impact the core functionality when denied.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Data: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App's permission request list (e.g., location, storage, camera).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Environment: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 with Android/iOS.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Permission management and monitoring tools in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enabled.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277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8CBD-0758-6124-5036-7FFE7E6D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Validate Cache and Browser Data Clearance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D02B-9C21-7296-0A16-7F9F27A68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Case ID: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TC-015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Ensure the app does not store sensitive data (e.g., session tokens, cached pages) in plaintext or accessible formats after closing the app.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Pre-conditions: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APK/AAB/IPA installed on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Corellium’s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file system access enabled for inspection.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on the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 and log in with valid credentials.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Perform sensitive actions within the app (e.g., viewing account details, making transactions).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Close the app without logging out.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Corellium's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file explorer to inspect the app's cached data stored in: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Android: /data/data/&lt;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app_package_name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&gt;/cache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iOS: /var/mobile/Containers/Data/Application/&lt;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app_bundle_id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&gt;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Look for session tokens, cached pages, or other sensitive data stored in plaintext.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Expected Results: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No sensitive data should be stored in plaintext in the app's cache or file system.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Cached data should be securely encrypted or cleared when the app is closed.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Sensitive data (e.g., session tokens) should not be accessible after closing the app.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Data: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 credentials: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user@example.com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/ Password123.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Sample sensitive actions (e.g., viewing personal data, making a payment).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Environment: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 with Android/iOS.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File system access enabled on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5807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3537-3E43-C695-7395-76AE1E6F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Validate App Security in Untrusted Environments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5B4D1-EFA9-59A3-A2FE-3C0F97BBC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Case ID: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TC-016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Verify the app detects and appropriately handles execution in untrusted environments (e.g., rooted/jailbroken devices) and prevents debugging or unauthorized modifications.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Pre-conditions: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APK/AAB/IPA installed on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devices configured as: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Rooted Android device.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Jailbroken iOS device.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Debugging tools (e.g.,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debugger) are available.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on a rooted Android device.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Launch the app on a jailbroken iOS device.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Verify the app’s behavior, checking for: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Refusal to launch or a security notification.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Error messages indicating the untrusted environment.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Attach debugging tools to the app using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Attempt to inspect or modify the app’s runtime behavior (e.g., intercepting API calls, altering memory).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Observe how the app reacts to these attempts (e.g., crashes, blocks access).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Expected Results: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The app detects rooted/jailbroken environments and refuses to run or shows a warning.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Debugging attempts are blocked or logged, and the app resists runtime modification.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Sensitive data or operations remain secure and inaccessible.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Data: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Test credentials (if login is required):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user@example.com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/ Secure@123.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Debugging attempts: Runtime inspection, API interception.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Environment: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virtual devices configured as rooted Android and jailbroken iOS devices.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Debugging tools available in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Corellium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for testing.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81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BD5EA-54EC-7E27-3217-7F19408C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B27FF-C1D2-BA89-C8D1-15914D5A7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4AA6-05A3-6080-29E1-FBD8D204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130B-7981-0338-4D08-9715D3516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34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FE26-5CCC-ECD3-E044-18A3A9CF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71E4-4759-6A5E-CAEE-643B28855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32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32F1-DB48-8F11-CA05-D7022803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2CD63-524A-6B57-228A-EFA5EB890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00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2856</Words>
  <Application>Microsoft Macintosh PowerPoint</Application>
  <PresentationFormat>Widescreen</PresentationFormat>
  <Paragraphs>320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-webkit-standard</vt:lpstr>
      <vt:lpstr>Aptos</vt:lpstr>
      <vt:lpstr>Aptos Display</vt:lpstr>
      <vt:lpstr>Arial</vt:lpstr>
      <vt:lpstr>Office Theme</vt:lpstr>
      <vt:lpstr>Mobile Security Test cases</vt:lpstr>
      <vt:lpstr>Validate Secure Login Mechanism</vt:lpstr>
      <vt:lpstr>Verify No Sensitive Data in Logs</vt:lpstr>
      <vt:lpstr>Validate Session Timeout</vt:lpstr>
      <vt:lpstr>Check for Hardcoded Sensitive Data</vt:lpstr>
      <vt:lpstr>Validate Secure Data Storage</vt:lpstr>
      <vt:lpstr>Test Input Validation and Error Handling</vt:lpstr>
      <vt:lpstr>Validate Secure App Updates</vt:lpstr>
      <vt:lpstr>Check for Proper Logout Mechanism</vt:lpstr>
      <vt:lpstr>Validate Clipboard Data Handling</vt:lpstr>
      <vt:lpstr>Test URL Manipulation</vt:lpstr>
      <vt:lpstr>Check Network Communication Security</vt:lpstr>
      <vt:lpstr>Validate Error Message Content</vt:lpstr>
      <vt:lpstr>Test for Device Binding</vt:lpstr>
      <vt:lpstr>Test App Permissions</vt:lpstr>
      <vt:lpstr>Validate Cache and Browser Data Clearance</vt:lpstr>
      <vt:lpstr>Validate App Security in Untrusted Environments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Gupta</dc:creator>
  <cp:lastModifiedBy>Sachin Gupta</cp:lastModifiedBy>
  <cp:revision>4</cp:revision>
  <dcterms:created xsi:type="dcterms:W3CDTF">2025-01-21T20:59:28Z</dcterms:created>
  <dcterms:modified xsi:type="dcterms:W3CDTF">2025-01-22T00:54:44Z</dcterms:modified>
</cp:coreProperties>
</file>